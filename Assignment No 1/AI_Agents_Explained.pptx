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A33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754880"/>
            <a:ext cx="3108960" cy="3108960"/>
          </a:xfrm>
          <a:prstGeom prst="ellipse">
            <a:avLst/>
          </a:prstGeom>
          <a:solidFill>
            <a:srgbClr val="1C7293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0515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7" y="127741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EXPLAINED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68680" y="32461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Understanding, Designing, and Building Modern AI Agents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68680" y="397764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2519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Smitha Kolan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AI Engineer, Google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focus: From theory to practice using Google's Agent Development Kit (ADK)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AI Agent?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doesn't just answer — it decides and takes action.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CHATBOT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FA8C7"/>
            </a:solidFill>
            <a:prstDash val="solid"/>
          </a:ln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24912" y="2368296"/>
            <a:ext cx="539496" cy="201168"/>
          </a:xfrm>
          <a:prstGeom prst="rightArrow">
            <a:avLst/>
          </a:prstGeom>
          <a:solidFill>
            <a:srgbClr val="5FA8C7"/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210312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FA8C7"/>
            </a:solidFill>
            <a:prstDash val="solid"/>
          </a:ln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513832" y="2368296"/>
            <a:ext cx="539496" cy="201168"/>
          </a:xfrm>
          <a:prstGeom prst="rightArrow">
            <a:avLst/>
          </a:prstGeom>
          <a:solidFill>
            <a:srgbClr val="5FA8C7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0" y="210312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FA8C7"/>
            </a:solidFill>
            <a:prstDash val="solid"/>
          </a:ln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66760" y="2944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response — no memory, no action.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12203D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892" y="3785616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21792" y="420624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743200" y="4082796"/>
            <a:ext cx="320040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9" name="Shape 16"/>
          <p:cNvSpPr/>
          <p:nvPr/>
        </p:nvSpPr>
        <p:spPr>
          <a:xfrm>
            <a:off x="3108960" y="365760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12203D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212" y="3785616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182112" y="420624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Decider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303520" y="4082796"/>
            <a:ext cx="320040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3" name="Shape 19"/>
          <p:cNvSpPr/>
          <p:nvPr/>
        </p:nvSpPr>
        <p:spPr>
          <a:xfrm>
            <a:off x="5669280" y="365760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12203D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3785616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742432" y="420624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(API/Code/DB)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7863840" y="4082796"/>
            <a:ext cx="320040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7" name="Shape 22"/>
          <p:cNvSpPr/>
          <p:nvPr/>
        </p:nvSpPr>
        <p:spPr>
          <a:xfrm>
            <a:off x="8229600" y="365760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12203D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852" y="3785616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302752" y="420624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1623060" y="4754880"/>
            <a:ext cx="7680960" cy="0"/>
          </a:xfrm>
          <a:prstGeom prst="line">
            <a:avLst/>
          </a:prstGeom>
          <a:noFill/>
          <a:ln w="19050">
            <a:solidFill>
              <a:srgbClr val="4A5A72"/>
            </a:solidFill>
            <a:prstDash val="dash"/>
            <a:headEnd type="triangle"/>
            <a:tailEnd type="triangle"/>
          </a:ln>
        </p:spPr>
      </p:sp>
      <p:sp>
        <p:nvSpPr>
          <p:cNvPr id="31" name="Text 25"/>
          <p:cNvSpPr/>
          <p:nvPr/>
        </p:nvSpPr>
        <p:spPr>
          <a:xfrm>
            <a:off x="3566160" y="4782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8778240" y="3246120"/>
            <a:ext cx="2880360" cy="1600200"/>
          </a:xfrm>
          <a:prstGeom prst="roundRect">
            <a:avLst>
              <a:gd name="adj" fmla="val 4571"/>
            </a:avLst>
          </a:prstGeom>
          <a:solidFill>
            <a:srgbClr val="1C7293">
              <a:alpha val="12000"/>
            </a:srgbClr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8961120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CAPABILITY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8961120" y="36576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break down complex requests into steps and execute them autonomously.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Theoretical Foundation: ReAct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research paper "ReAct: Synergizing Reasoning and Acting in Language Models"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566160" y="1737360"/>
            <a:ext cx="1737360" cy="1737360"/>
          </a:xfrm>
          <a:prstGeom prst="ellipse">
            <a:avLst/>
          </a:prstGeom>
          <a:solidFill>
            <a:srgbClr val="12203D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808" y="20299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91840" y="2578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108960" y="2898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thinking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15200" y="1737360"/>
            <a:ext cx="1737360" cy="1737360"/>
          </a:xfrm>
          <a:prstGeom prst="ellipse">
            <a:avLst/>
          </a:prstGeom>
          <a:solidFill>
            <a:srgbClr val="12203D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2029968"/>
            <a:ext cx="512064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2578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858000" y="2898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 tool or API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315200" y="4297680"/>
            <a:ext cx="1737360" cy="1737360"/>
          </a:xfrm>
          <a:prstGeom prst="ellipse">
            <a:avLst/>
          </a:prstGeom>
          <a:solidFill>
            <a:srgbClr val="12203D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4590288"/>
            <a:ext cx="512064" cy="5120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5138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858000" y="5458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data results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566160" y="4297680"/>
            <a:ext cx="1737360" cy="1737360"/>
          </a:xfrm>
          <a:prstGeom prst="ellipse">
            <a:avLst/>
          </a:prstGeom>
          <a:solidFill>
            <a:srgbClr val="12203D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808" y="4590288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291840" y="5138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/ Decide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108960" y="5458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back to reasoning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394960" y="2487168"/>
            <a:ext cx="1828800" cy="23774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1" name="Shape 15"/>
          <p:cNvSpPr/>
          <p:nvPr/>
        </p:nvSpPr>
        <p:spPr>
          <a:xfrm>
            <a:off x="8065008" y="3566160"/>
            <a:ext cx="237744" cy="64008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2" name="Shape 16"/>
          <p:cNvSpPr/>
          <p:nvPr/>
        </p:nvSpPr>
        <p:spPr>
          <a:xfrm>
            <a:off x="5394960" y="5047488"/>
            <a:ext cx="1828800" cy="237744"/>
          </a:xfrm>
          <a:prstGeom prst="leftArrow">
            <a:avLst/>
          </a:prstGeom>
          <a:solidFill>
            <a:srgbClr val="1C7293"/>
          </a:solidFill>
          <a:ln/>
        </p:spPr>
      </p:sp>
      <p:sp>
        <p:nvSpPr>
          <p:cNvPr id="23" name="Shape 17"/>
          <p:cNvSpPr/>
          <p:nvPr/>
        </p:nvSpPr>
        <p:spPr>
          <a:xfrm>
            <a:off x="4315968" y="3566160"/>
            <a:ext cx="237744" cy="640080"/>
          </a:xfrm>
          <a:prstGeom prst="upArrow">
            <a:avLst/>
          </a:prstGeom>
          <a:solidFill>
            <a:srgbClr val="1C7293"/>
          </a:solidFill>
          <a:ln/>
        </p:spPr>
      </p:sp>
      <p:sp>
        <p:nvSpPr>
          <p:cNvPr id="24" name="Shape 18"/>
          <p:cNvSpPr/>
          <p:nvPr/>
        </p:nvSpPr>
        <p:spPr>
          <a:xfrm>
            <a:off x="548640" y="237744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E8F1F5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3152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31520" y="28346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use reasoning, planning, and memory to act on behalf of the user.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9281160" y="237744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E8F1F5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946404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9464040" y="28346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cycle refines the agent's approach until the goal is achieved.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Agent Behavior Patterns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05940" y="1783080"/>
            <a:ext cx="914400" cy="91440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3684" y="20208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Agents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3429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line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783080" y="3840480"/>
            <a:ext cx="960120" cy="0"/>
          </a:xfrm>
          <a:prstGeom prst="line">
            <a:avLst/>
          </a:prstGeom>
          <a:noFill/>
          <a:ln w="19050">
            <a:solidFill>
              <a:srgbClr val="E8F1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9776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Step-by-step, predictable, but rigid.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141732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54980" y="1783080"/>
            <a:ext cx="914400" cy="91440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724" y="202082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2628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Agents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526280" y="3429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decision-maker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532120" y="3840480"/>
            <a:ext cx="960120" cy="0"/>
          </a:xfrm>
          <a:prstGeom prst="line">
            <a:avLst/>
          </a:prstGeom>
          <a:noFill/>
          <a:ln w="19050">
            <a:solidFill>
              <a:srgbClr val="E8F1F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17720" y="39776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in the moment, flexible, but lacks long-term planning.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046720" y="141732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304020" y="1783080"/>
            <a:ext cx="914400" cy="91440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764" y="2020824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27532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 / Planning Agents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275320" y="3429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agent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9281160" y="3840480"/>
            <a:ext cx="960120" cy="0"/>
          </a:xfrm>
          <a:prstGeom prst="line">
            <a:avLst/>
          </a:prstGeom>
          <a:noFill/>
          <a:ln w="19050">
            <a:solidFill>
              <a:srgbClr val="E8F1F5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366760" y="39776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to sketch a multi-step plan before execution; manages dependencies.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Blog-Writing Agent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create a multi-agent system that writes a technical blog post from a single topic.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41368" y="182880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12203D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4248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18608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Conductor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Agent — delegates tasks to tools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95848" y="2834640"/>
            <a:ext cx="0" cy="2286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91840" y="3063240"/>
            <a:ext cx="280400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95848" y="3063240"/>
            <a:ext cx="280400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82112" y="3063240"/>
            <a:ext cx="219456" cy="22860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8790127" y="3063240"/>
            <a:ext cx="219456" cy="22860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2" name="Shape 9"/>
          <p:cNvSpPr/>
          <p:nvPr/>
        </p:nvSpPr>
        <p:spPr>
          <a:xfrm>
            <a:off x="1188720" y="3291840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E8F1F5"/>
          </a:solidFill>
          <a:ln w="12700">
            <a:solidFill>
              <a:srgbClr val="5FA8C7"/>
            </a:solidFill>
            <a:prstDash val="solid"/>
          </a:ln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61188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94560" y="3429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Agent — generates a structured outline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796735" y="3291840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E8F1F5"/>
          </a:solidFill>
          <a:ln w="12700">
            <a:solidFill>
              <a:srgbClr val="5FA8C7"/>
            </a:solidFill>
            <a:prstDash val="solid"/>
          </a:ln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335" y="361188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02575" y="3429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Writer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Agent — drafts the full post based on the outline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1188720" y="5074920"/>
            <a:ext cx="9814255" cy="777240"/>
          </a:xfrm>
          <a:prstGeom prst="roundRect">
            <a:avLst>
              <a:gd name="adj" fmla="val 9412"/>
            </a:avLst>
          </a:prstGeom>
          <a:solidFill>
            <a:srgbClr val="12203D"/>
          </a:solidFill>
          <a:ln/>
        </p:spPr>
      </p:sp>
      <p:sp>
        <p:nvSpPr>
          <p:cNvPr id="19" name="Text 14"/>
          <p:cNvSpPr/>
          <p:nvPr/>
        </p:nvSpPr>
        <p:spPr>
          <a:xfrm>
            <a:off x="1463040" y="5074920"/>
            <a:ext cx="9265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 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Agent Development Kit (ADK) and the Gemini-Flash-Latest model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728655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8288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810" y="20427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719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103120" y="1938528"/>
            <a:ext cx="8076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Management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103120" y="2331720"/>
            <a:ext cx="8076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uv for fast Python environment management.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3200400"/>
            <a:ext cx="10728655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05840" y="347472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810" y="36886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0312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103120" y="3584448"/>
            <a:ext cx="8076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103120" y="3977640"/>
            <a:ext cx="8076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google-adk.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1520" y="4846320"/>
            <a:ext cx="10728655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05840" y="512064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810" y="533461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5010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2103120" y="5230368"/>
            <a:ext cx="8076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2103120" y="5623560"/>
            <a:ext cx="8076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agent.py, import key libraries (Agent, LoopAgent, agent_tool), and load environment variables for the model.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Planner &amp; Validation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E8F1F5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02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5087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Sub-Agent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Instructed as a "technical content strategist" to produce Markdown outlines.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32461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E8F1F5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47472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33832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Checker Sub-Agent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"quality gate" that reviews the outline.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2487168" y="2953512"/>
            <a:ext cx="237744" cy="25603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0" name="Shape 6"/>
          <p:cNvSpPr/>
          <p:nvPr/>
        </p:nvSpPr>
        <p:spPr>
          <a:xfrm>
            <a:off x="5577840" y="1463040"/>
            <a:ext cx="2194560" cy="1188720"/>
          </a:xfrm>
          <a:prstGeom prst="diamond">
            <a:avLst/>
          </a:prstGeom>
          <a:solidFill>
            <a:srgbClr val="12203D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577840" y="14630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outline?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0" y="150876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DFF5E8"/>
          </a:solidFill>
          <a:ln w="12700">
            <a:solidFill>
              <a:srgbClr val="3EAE6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9600" y="1508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6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"Okay."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18120" y="1965960"/>
            <a:ext cx="365760" cy="182880"/>
          </a:xfrm>
          <a:prstGeom prst="rightArrow">
            <a:avLst/>
          </a:prstGeom>
          <a:solidFill>
            <a:srgbClr val="3EAE6B"/>
          </a:solidFill>
          <a:ln/>
        </p:spPr>
      </p:sp>
      <p:sp>
        <p:nvSpPr>
          <p:cNvPr id="15" name="Text 11"/>
          <p:cNvSpPr/>
          <p:nvPr/>
        </p:nvSpPr>
        <p:spPr>
          <a:xfrm>
            <a:off x="7818120" y="12070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E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0" y="315468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CE7E2"/>
          </a:solidFill>
          <a:ln w="12700">
            <a:solidFill>
              <a:srgbClr val="C0503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"Retry" + list missing pieces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583680" y="2697480"/>
            <a:ext cx="182880" cy="365760"/>
          </a:xfrm>
          <a:prstGeom prst="downArrow">
            <a:avLst/>
          </a:prstGeom>
          <a:solidFill>
            <a:srgbClr val="C0503A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26974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709160" y="3566160"/>
            <a:ext cx="777240" cy="0"/>
          </a:xfrm>
          <a:prstGeom prst="line">
            <a:avLst/>
          </a:prstGeom>
          <a:noFill/>
          <a:ln w="19050">
            <a:solidFill>
              <a:srgbClr val="4A5A72"/>
            </a:solidFill>
            <a:prstDash val="dash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4709160" y="2148840"/>
            <a:ext cx="0" cy="1417320"/>
          </a:xfrm>
          <a:prstGeom prst="line">
            <a:avLst/>
          </a:prstGeom>
          <a:noFill/>
          <a:ln w="19050">
            <a:solidFill>
              <a:srgbClr val="4A5A72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4709160" y="2148840"/>
            <a:ext cx="822960" cy="0"/>
          </a:xfrm>
          <a:prstGeom prst="line">
            <a:avLst/>
          </a:prstGeom>
          <a:noFill/>
          <a:ln w="19050">
            <a:solidFill>
              <a:srgbClr val="4A5A72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>
            <a:off x="640080" y="53492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12203D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48640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63040" y="534924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 a LoopAgent that retries the process (up to 3 times) if validation fails.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Blog Writer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transforms the validated outline into a full-length article.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90" y="24085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468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19456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90" y="240853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52360" y="2468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insights and the “how and why”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" y="37947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5196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90" y="446593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069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4526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with code snippets and proper H2/H3 headings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7947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25196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90" y="446593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069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52360" y="4526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outline from the shared state created by the Planner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— The Root Agent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Blogger (Root Agent): the primary point of contact for the user.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12203D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1348" y="199339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641348" y="1993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topic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45536" y="2596896"/>
            <a:ext cx="246888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82880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12203D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4548" y="199339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384548" y="1993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2651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Planner Tool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(Reasoning/Planning)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88736" y="2596896"/>
            <a:ext cx="246888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200" y="182880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12203D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27748" y="199339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127748" y="1993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2651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Writer Tool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(Action/Drafting)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31936" y="2596896"/>
            <a:ext cx="246888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8915400" y="182880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12203D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70948" y="199339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9870948" y="1993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06840" y="2651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titles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hooks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3977640"/>
            <a:ext cx="10820095" cy="914400"/>
          </a:xfrm>
          <a:prstGeom prst="roundRect">
            <a:avLst>
              <a:gd name="adj" fmla="val 10000"/>
            </a:avLst>
          </a:prstGeom>
          <a:solidFill>
            <a:srgbClr val="1C7293">
              <a:alpha val="12000"/>
            </a:srgbClr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60520"/>
            <a:ext cx="548640" cy="5486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645920" y="397764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 </a:t>
            </a:r>
            <a:pPr indent="0" marL="0">
              <a:buNone/>
            </a:pPr>
            <a:r>
              <a:rPr lang="en-US" sz="14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allow the Root Agent to call complex sub-agents as if they were simple functions.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85800" y="51206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into the larger system: Conductor → Planner → Writer → Root Agent finalizes output.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and Testing (ADK Web)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1220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325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1887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adk web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8580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a local web-based UI (Agent Development Kit)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85800" y="2880360"/>
            <a:ext cx="1082009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30632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324154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828800" y="338328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“thinking” process of sub-agents.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85800" y="4114800"/>
            <a:ext cx="1082009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42976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447598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2880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828800" y="46177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the shared data between agents.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85800" y="5349240"/>
            <a:ext cx="1082009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5321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" y="571042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828800" y="585216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directly with the Root Agent to kick off workflows.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291840" cy="3291840"/>
          </a:xfrm>
          <a:prstGeom prst="ellipse">
            <a:avLst/>
          </a:prstGeom>
          <a:solidFill>
            <a:srgbClr val="E8A33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6733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4904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defined by their ability to reason and act.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057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(sub-agents + checkers) ensures high-quality output.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80720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6243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simplifies the development of these complex loops.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10911535" cy="1691640"/>
          </a:xfrm>
          <a:prstGeom prst="roundRect">
            <a:avLst>
              <a:gd name="adj" fmla="val 6486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2700000">
              <a:srgbClr val="0A183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4160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4398264"/>
            <a:ext cx="438912" cy="4389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10312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LEVEL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103120" y="4297680"/>
            <a:ext cx="8899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agents to real-world servers using MCP (Model Context Protocol).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Explained</dc:title>
  <dc:subject>PptxGenJS Presentation</dc:subject>
  <dc:creator>Smitha Kolan</dc:creator>
  <cp:lastModifiedBy>Smitha Kolan</cp:lastModifiedBy>
  <cp:revision>1</cp:revision>
  <dcterms:created xsi:type="dcterms:W3CDTF">2026-07-05T13:04:02Z</dcterms:created>
  <dcterms:modified xsi:type="dcterms:W3CDTF">2026-07-05T13:04:02Z</dcterms:modified>
</cp:coreProperties>
</file>